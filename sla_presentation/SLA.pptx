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  <p:sldId id="257" r:id="rId3"/>
    <p:sldId id="261" r:id="rId4"/>
    <p:sldId id="272" r:id="rId5"/>
    <p:sldId id="278" r:id="rId6"/>
    <p:sldId id="280" r:id="rId7"/>
    <p:sldId id="281" r:id="rId8"/>
    <p:sldId id="282" r:id="rId9"/>
    <p:sldId id="283" r:id="rId10"/>
    <p:sldId id="263" r:id="rId11"/>
    <p:sldId id="264" r:id="rId12"/>
    <p:sldId id="269" r:id="rId13"/>
    <p:sldId id="270" r:id="rId14"/>
    <p:sldId id="271" r:id="rId15"/>
    <p:sldId id="259" r:id="rId16"/>
    <p:sldId id="260" r:id="rId17"/>
    <p:sldId id="277" r:id="rId18"/>
    <p:sldId id="265" r:id="rId19"/>
    <p:sldId id="274" r:id="rId20"/>
    <p:sldId id="275" r:id="rId21"/>
    <p:sldId id="276" r:id="rId22"/>
    <p:sldId id="279" r:id="rId23"/>
    <p:sldId id="284" r:id="rId24"/>
    <p:sldId id="266" r:id="rId25"/>
    <p:sldId id="267" r:id="rId26"/>
    <p:sldId id="26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8193FC-8019-445D-B4DA-7FC3E21A9F5E}" v="993" dt="2025-11-10T10:26:14.8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6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AB6A4-4888-406E-8DDF-D06D94A2CC5F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3185-47BF-4364-9266-042E7EBE2B0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87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AB6A4-4888-406E-8DDF-D06D94A2CC5F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3185-47BF-4364-9266-042E7EBE2B0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18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AB6A4-4888-406E-8DDF-D06D94A2CC5F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3185-47BF-4364-9266-042E7EBE2B0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0960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AB6A4-4888-406E-8DDF-D06D94A2CC5F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3185-47BF-4364-9266-042E7EBE2B0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196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AB6A4-4888-406E-8DDF-D06D94A2CC5F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3185-47BF-4364-9266-042E7EBE2B0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8104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AB6A4-4888-406E-8DDF-D06D94A2CC5F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3185-47BF-4364-9266-042E7EBE2B0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1382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AB6A4-4888-406E-8DDF-D06D94A2CC5F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3185-47BF-4364-9266-042E7EBE2B0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8943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AB6A4-4888-406E-8DDF-D06D94A2CC5F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3185-47BF-4364-9266-042E7EBE2B0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144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AB6A4-4888-406E-8DDF-D06D94A2CC5F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3185-47BF-4364-9266-042E7EBE2B0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9167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AB6A4-4888-406E-8DDF-D06D94A2CC5F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3185-47BF-4364-9266-042E7EBE2B0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1532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AB6A4-4888-406E-8DDF-D06D94A2CC5F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3185-47BF-4364-9266-042E7EBE2B08}" type="slidenum">
              <a:rPr lang="de-DE" smtClean="0"/>
              <a:t>‹#›</a:t>
            </a:fld>
            <a:endParaRPr lang="de-D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5335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AB6A4-4888-406E-8DDF-D06D94A2CC5F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3185-47BF-4364-9266-042E7EBE2B0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2909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AB6A4-4888-406E-8DDF-D06D94A2CC5F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3185-47BF-4364-9266-042E7EBE2B08}" type="slidenum">
              <a:rPr lang="de-DE" smtClean="0"/>
              <a:t>‹#›</a:t>
            </a:fld>
            <a:endParaRPr lang="de-D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0911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AB6A4-4888-406E-8DDF-D06D94A2CC5F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3185-47BF-4364-9266-042E7EBE2B0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38986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AB6A4-4888-406E-8DDF-D06D94A2CC5F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3185-47BF-4364-9266-042E7EBE2B0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0227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AB6A4-4888-406E-8DDF-D06D94A2CC5F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3185-47BF-4364-9266-042E7EBE2B0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007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AB6A4-4888-406E-8DDF-D06D94A2CC5F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AD53185-47BF-4364-9266-042E7EBE2B0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902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p.legal/wissen/sla-metriken" TargetMode="External"/><Relationship Id="rId2" Type="http://schemas.openxmlformats.org/officeDocument/2006/relationships/hyperlink" Target="https://www.ibm.com/de-de/think/topics/service-level-agreemen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dn.prod.website-files.com/6084671f10af4f0949901b19/67c723acd06ffb8dfd301833_The%20Methods%20of%20Dispute%20Resolution%20-%20visual%20selection.png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p.legal/wissen/sla-vorlage" TargetMode="External"/><Relationship Id="rId2" Type="http://schemas.openxmlformats.org/officeDocument/2006/relationships/hyperlink" Target="https://cdn.prod.website-files.com/6084671f10af4f0949901b19/6810729b548b5a2f1da48a41_Warum%20ist%20der%20Abschluss%20eines%20Service%20Level%20Agreements%20wichtig_%20-%20visual%20selection%20copy%203.p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zure.microsoft.com/de-de/support/plans/respons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48300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7175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8764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0730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9621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1788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48954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6287" y="-8467"/>
            <a:ext cx="9175713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86B411-940C-0243-3E27-EB6964277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9136" y="1020871"/>
            <a:ext cx="6960759" cy="2849671"/>
          </a:xfrm>
        </p:spPr>
        <p:txBody>
          <a:bodyPr>
            <a:normAutofit/>
          </a:bodyPr>
          <a:lstStyle/>
          <a:p>
            <a:pPr algn="l"/>
            <a:r>
              <a:rPr lang="de-DE" sz="6000" dirty="0">
                <a:solidFill>
                  <a:srgbClr val="FFFFFF"/>
                </a:solidFill>
              </a:rPr>
              <a:t>SLA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3B78A4-2B08-512A-2090-9192844DE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8104" y="3962088"/>
            <a:ext cx="6112077" cy="1186108"/>
          </a:xfrm>
        </p:spPr>
        <p:txBody>
          <a:bodyPr>
            <a:normAutofit/>
          </a:bodyPr>
          <a:lstStyle/>
          <a:p>
            <a:pPr algn="l" fontAlgn="base"/>
            <a:r>
              <a:rPr lang="de-DE" dirty="0">
                <a:solidFill>
                  <a:schemeClr val="bg1">
                    <a:alpha val="70000"/>
                  </a:schemeClr>
                </a:solidFill>
              </a:rPr>
              <a:t>Fach: BFK6</a:t>
            </a:r>
            <a:endParaRPr lang="en-US" dirty="0">
              <a:solidFill>
                <a:schemeClr val="bg1">
                  <a:alpha val="70000"/>
                </a:schemeClr>
              </a:solidFill>
            </a:endParaRPr>
          </a:p>
          <a:p>
            <a:pPr algn="l" fontAlgn="base"/>
            <a:r>
              <a:rPr lang="en-US" dirty="0" err="1">
                <a:solidFill>
                  <a:schemeClr val="bg1">
                    <a:alpha val="70000"/>
                  </a:schemeClr>
                </a:solidFill>
              </a:rPr>
              <a:t>Präsentatoren</a:t>
            </a:r>
            <a:r>
              <a:rPr lang="de-DE" dirty="0">
                <a:solidFill>
                  <a:schemeClr val="bg1">
                    <a:alpha val="70000"/>
                  </a:schemeClr>
                </a:solidFill>
              </a:rPr>
              <a:t>: Kevin, Lars, Gabriel, Peter</a:t>
            </a:r>
            <a:endParaRPr lang="en-US" b="0" i="0" dirty="0">
              <a:solidFill>
                <a:schemeClr val="bg1">
                  <a:alpha val="70000"/>
                </a:schemeClr>
              </a:solidFill>
              <a:effectLst/>
            </a:endParaRP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2562" y="3271487"/>
            <a:ext cx="220660" cy="18643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098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12137-FAC0-066E-C242-D54167BEC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Definition</a:t>
            </a:r>
          </a:p>
        </p:txBody>
      </p:sp>
      <p:pic>
        <p:nvPicPr>
          <p:cNvPr id="5" name="Content Placeholder 4" descr="Handshake outline">
            <a:extLst>
              <a:ext uri="{FF2B5EF4-FFF2-40B4-BE49-F238E27FC236}">
                <a16:creationId xmlns:a16="http://schemas.microsoft.com/office/drawing/2014/main" id="{B2166A10-221D-5DF7-D80A-8AACE6F01D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9268" y="1862670"/>
            <a:ext cx="2081073" cy="2087434"/>
          </a:xfrm>
        </p:spPr>
      </p:pic>
      <p:pic>
        <p:nvPicPr>
          <p:cNvPr id="7" name="Graphic 6" descr="Boardroom with solid fill">
            <a:extLst>
              <a:ext uri="{FF2B5EF4-FFF2-40B4-BE49-F238E27FC236}">
                <a16:creationId xmlns:a16="http://schemas.microsoft.com/office/drawing/2014/main" id="{58013097-5ACE-7AEE-9CD3-5893704D9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5316" y="2738096"/>
            <a:ext cx="2308976" cy="23768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39E59A-AB88-BE0E-9B71-EB2CB9D6EEE6}"/>
              </a:ext>
            </a:extLst>
          </p:cNvPr>
          <p:cNvSpPr txBox="1"/>
          <p:nvPr/>
        </p:nvSpPr>
        <p:spPr>
          <a:xfrm>
            <a:off x="7382646" y="2598003"/>
            <a:ext cx="2344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Legt Service und</a:t>
            </a:r>
          </a:p>
          <a:p>
            <a:r>
              <a:rPr lang="de-DE" dirty="0"/>
              <a:t>Leistungsniveau fest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E4C0BE-363B-59EC-062E-B721EC56478B}"/>
              </a:ext>
            </a:extLst>
          </p:cNvPr>
          <p:cNvSpPr txBox="1"/>
          <p:nvPr/>
        </p:nvSpPr>
        <p:spPr>
          <a:xfrm>
            <a:off x="3864800" y="1745734"/>
            <a:ext cx="2823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Service Level Agreement</a:t>
            </a:r>
          </a:p>
        </p:txBody>
      </p:sp>
      <p:sp>
        <p:nvSpPr>
          <p:cNvPr id="11" name="Arrow: Bent-Up 10">
            <a:extLst>
              <a:ext uri="{FF2B5EF4-FFF2-40B4-BE49-F238E27FC236}">
                <a16:creationId xmlns:a16="http://schemas.microsoft.com/office/drawing/2014/main" id="{3B8EFC80-9848-DCC0-28FE-02B5F99038EE}"/>
              </a:ext>
            </a:extLst>
          </p:cNvPr>
          <p:cNvSpPr/>
          <p:nvPr/>
        </p:nvSpPr>
        <p:spPr>
          <a:xfrm rot="10800000">
            <a:off x="1957302" y="1849613"/>
            <a:ext cx="1938528" cy="630936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Arrow: Bent-Up 12">
            <a:extLst>
              <a:ext uri="{FF2B5EF4-FFF2-40B4-BE49-F238E27FC236}">
                <a16:creationId xmlns:a16="http://schemas.microsoft.com/office/drawing/2014/main" id="{3C8AC4CA-3FDF-2F6F-1329-14745B969825}"/>
              </a:ext>
            </a:extLst>
          </p:cNvPr>
          <p:cNvSpPr/>
          <p:nvPr/>
        </p:nvSpPr>
        <p:spPr>
          <a:xfrm rot="10800000" flipH="1">
            <a:off x="6543780" y="1849614"/>
            <a:ext cx="1938528" cy="630936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3962D3-5D69-88B3-1019-70AD889EFBA2}"/>
              </a:ext>
            </a:extLst>
          </p:cNvPr>
          <p:cNvSpPr txBox="1"/>
          <p:nvPr/>
        </p:nvSpPr>
        <p:spPr>
          <a:xfrm>
            <a:off x="1349578" y="2598003"/>
            <a:ext cx="16112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Vertragliche Vereinbarung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0B0101FE-7074-2FC5-3964-B8C4E4B69957}"/>
              </a:ext>
            </a:extLst>
          </p:cNvPr>
          <p:cNvSpPr/>
          <p:nvPr/>
        </p:nvSpPr>
        <p:spPr>
          <a:xfrm>
            <a:off x="1877291" y="5102552"/>
            <a:ext cx="935274" cy="2486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3867BFBE-F7D2-8A61-B904-53C97F5AE00A}"/>
              </a:ext>
            </a:extLst>
          </p:cNvPr>
          <p:cNvSpPr/>
          <p:nvPr/>
        </p:nvSpPr>
        <p:spPr>
          <a:xfrm>
            <a:off x="1877291" y="5579782"/>
            <a:ext cx="935274" cy="2486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604761-93B1-F061-2849-AFC8FD9158E3}"/>
              </a:ext>
            </a:extLst>
          </p:cNvPr>
          <p:cNvSpPr txBox="1"/>
          <p:nvPr/>
        </p:nvSpPr>
        <p:spPr>
          <a:xfrm>
            <a:off x="2846555" y="5042192"/>
            <a:ext cx="3225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Anbieter und externer Kunde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2E05C6-A975-AFDF-074E-706163E4E462}"/>
              </a:ext>
            </a:extLst>
          </p:cNvPr>
          <p:cNvSpPr txBox="1"/>
          <p:nvPr/>
        </p:nvSpPr>
        <p:spPr>
          <a:xfrm>
            <a:off x="2846554" y="5508267"/>
            <a:ext cx="3225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Intern zwischen Teams</a:t>
            </a:r>
          </a:p>
        </p:txBody>
      </p:sp>
    </p:spTree>
    <p:extLst>
      <p:ext uri="{BB962C8B-B14F-4D97-AF65-F5344CB8AC3E}">
        <p14:creationId xmlns:p14="http://schemas.microsoft.com/office/powerpoint/2010/main" val="154877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/>
      <p:bldP spid="29" grpId="0" animBg="1"/>
      <p:bldP spid="31" grpId="0" animBg="1"/>
      <p:bldP spid="32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FAA7D3-7569-3048-4EFA-74040B1D3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4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5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7577DEC-D9A5-404D-9789-702F4319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EEA9366-CEA8-4F23-B065-4337F0D8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4A03D6-39B4-4278-9BE1-A07E02449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BE459AF-3736-4886-82E0-9B5DA427B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B6B88EF-180C-4E39-8A3F-A52E87110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52DFAACF-64D0-4621-8FF4-E2F03C3E8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36611FF0-65B3-49DB-97C6-1B72AAD0F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0F7407FE-86B1-4890-9D80-9406FBF29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8" name="Rectangle 29">
              <a:extLst>
                <a:ext uri="{FF2B5EF4-FFF2-40B4-BE49-F238E27FC236}">
                  <a16:creationId xmlns:a16="http://schemas.microsoft.com/office/drawing/2014/main" id="{EBD42D5B-8F87-45B3-98B3-C66944F92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F5E04699-59E1-4468-9E7C-83070EEB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F2AE8F13-9A52-4D7F-9637-321EA7CF3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4F89607-947D-00BF-CACB-00B4B60A4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067" y="2404534"/>
            <a:ext cx="7766936" cy="16463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 err="1"/>
              <a:t>Vorteile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509702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A52F4-4A1A-429F-91C5-C3254EEDF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Vorteile</a:t>
            </a:r>
          </a:p>
        </p:txBody>
      </p:sp>
      <p:pic>
        <p:nvPicPr>
          <p:cNvPr id="5" name="Content Placeholder 4" descr="Bar graph with upward trend with solid fill">
            <a:extLst>
              <a:ext uri="{FF2B5EF4-FFF2-40B4-BE49-F238E27FC236}">
                <a16:creationId xmlns:a16="http://schemas.microsoft.com/office/drawing/2014/main" id="{03513137-D030-0505-5209-10149726E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7334" y="1507718"/>
            <a:ext cx="578442" cy="57844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AF2CBF-5514-EE28-52E1-0D9F56F10DEC}"/>
              </a:ext>
            </a:extLst>
          </p:cNvPr>
          <p:cNvSpPr txBox="1"/>
          <p:nvPr/>
        </p:nvSpPr>
        <p:spPr>
          <a:xfrm>
            <a:off x="1255776" y="1612273"/>
            <a:ext cx="362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Verbesserung der Servicequalität</a:t>
            </a: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51831C30-5A52-A7C7-450E-9099F89EAA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334" y="2902496"/>
            <a:ext cx="578442" cy="5784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82D45F-34D8-9671-56DB-867009A3E958}"/>
              </a:ext>
            </a:extLst>
          </p:cNvPr>
          <p:cNvSpPr txBox="1"/>
          <p:nvPr/>
        </p:nvSpPr>
        <p:spPr>
          <a:xfrm>
            <a:off x="1255776" y="3007051"/>
            <a:ext cx="362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Erleichterung der Kommunikation</a:t>
            </a:r>
          </a:p>
        </p:txBody>
      </p:sp>
      <p:pic>
        <p:nvPicPr>
          <p:cNvPr id="11" name="Graphic 10" descr="Shield Tick with solid fill">
            <a:extLst>
              <a:ext uri="{FF2B5EF4-FFF2-40B4-BE49-F238E27FC236}">
                <a16:creationId xmlns:a16="http://schemas.microsoft.com/office/drawing/2014/main" id="{6F072287-53CF-C03A-0BB3-EE9E387E57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7334" y="4491949"/>
            <a:ext cx="578441" cy="5784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D9D6C6-A722-7822-1307-F0FD478F45C4}"/>
              </a:ext>
            </a:extLst>
          </p:cNvPr>
          <p:cNvSpPr txBox="1"/>
          <p:nvPr/>
        </p:nvSpPr>
        <p:spPr>
          <a:xfrm>
            <a:off x="1255776" y="4596504"/>
            <a:ext cx="362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Minimierung des Risikos</a:t>
            </a:r>
          </a:p>
        </p:txBody>
      </p:sp>
      <p:pic>
        <p:nvPicPr>
          <p:cNvPr id="14" name="Graphic 13" descr="Clapping hands with solid fill">
            <a:extLst>
              <a:ext uri="{FF2B5EF4-FFF2-40B4-BE49-F238E27FC236}">
                <a16:creationId xmlns:a16="http://schemas.microsoft.com/office/drawing/2014/main" id="{F93F86E2-6814-2787-A2FB-EB76F2A76F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7334" y="5724717"/>
            <a:ext cx="578442" cy="57844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EA19BA5-0A2E-BA28-610C-37289BFD4CAD}"/>
              </a:ext>
            </a:extLst>
          </p:cNvPr>
          <p:cNvSpPr txBox="1"/>
          <p:nvPr/>
        </p:nvSpPr>
        <p:spPr>
          <a:xfrm>
            <a:off x="1255777" y="5829273"/>
            <a:ext cx="362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Erhöhung der Servicekontinuität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61000C-CD87-E1E9-2F3B-3C98F186D2E0}"/>
              </a:ext>
            </a:extLst>
          </p:cNvPr>
          <p:cNvSpPr txBox="1"/>
          <p:nvPr/>
        </p:nvSpPr>
        <p:spPr>
          <a:xfrm>
            <a:off x="1255775" y="2190715"/>
            <a:ext cx="436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„Der Support soll halt schnell reagieren“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5A1FEF5-76BC-01D2-F7DE-0B599D2BA79F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5620357" y="2375381"/>
            <a:ext cx="9512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6A4AC43-FC70-3852-F355-E84AB12563D2}"/>
              </a:ext>
            </a:extLst>
          </p:cNvPr>
          <p:cNvSpPr txBox="1"/>
          <p:nvPr/>
        </p:nvSpPr>
        <p:spPr>
          <a:xfrm>
            <a:off x="6571645" y="2052215"/>
            <a:ext cx="3067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Reaktionszeit &lt; 1 Stunde, Lösungszeit &lt; 4 Stunden.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D5B6324-E9B1-EB12-0BEA-3E23B533F05F}"/>
              </a:ext>
            </a:extLst>
          </p:cNvPr>
          <p:cNvCxnSpPr/>
          <p:nvPr/>
        </p:nvCxnSpPr>
        <p:spPr>
          <a:xfrm>
            <a:off x="535827" y="2698546"/>
            <a:ext cx="93361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155776E-C0E9-3BBE-5080-B794A3AA3D19}"/>
              </a:ext>
            </a:extLst>
          </p:cNvPr>
          <p:cNvSpPr txBox="1"/>
          <p:nvPr/>
        </p:nvSpPr>
        <p:spPr>
          <a:xfrm>
            <a:off x="1255777" y="3585493"/>
            <a:ext cx="3144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„Rufen sie einfach wen an“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50AA7A5-2F36-08F0-26E6-E361488DCC9B}"/>
              </a:ext>
            </a:extLst>
          </p:cNvPr>
          <p:cNvCxnSpPr>
            <a:cxnSpLocks/>
            <a:stCxn id="33" idx="3"/>
            <a:endCxn id="38" idx="1"/>
          </p:cNvCxnSpPr>
          <p:nvPr/>
        </p:nvCxnSpPr>
        <p:spPr>
          <a:xfrm>
            <a:off x="4400063" y="3770159"/>
            <a:ext cx="970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4F067D2-FA1D-A34E-BD7F-88DC176A8751}"/>
              </a:ext>
            </a:extLst>
          </p:cNvPr>
          <p:cNvSpPr txBox="1"/>
          <p:nvPr/>
        </p:nvSpPr>
        <p:spPr>
          <a:xfrm>
            <a:off x="5370577" y="3446993"/>
            <a:ext cx="2944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„Sie erreichen uns auf der Support-Hotline 24/7“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F4A47A9-874C-477C-D625-225738522A04}"/>
              </a:ext>
            </a:extLst>
          </p:cNvPr>
          <p:cNvCxnSpPr/>
          <p:nvPr/>
        </p:nvCxnSpPr>
        <p:spPr>
          <a:xfrm>
            <a:off x="535827" y="4139917"/>
            <a:ext cx="93361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B681213-46D8-D9E9-4DE6-FB4306DC6C82}"/>
              </a:ext>
            </a:extLst>
          </p:cNvPr>
          <p:cNvCxnSpPr/>
          <p:nvPr/>
        </p:nvCxnSpPr>
        <p:spPr>
          <a:xfrm>
            <a:off x="535827" y="5422421"/>
            <a:ext cx="93361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384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5" grpId="0"/>
      <p:bldP spid="17" grpId="0"/>
      <p:bldP spid="23" grpId="0"/>
      <p:bldP spid="33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4E94E0-0C08-832D-3DFE-F75D5DEC4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3C43D55-317F-635D-B91D-A59AA1387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7FFF1AF-A7C4-F017-E518-725BCB0C2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B8B014-38E5-C910-BD93-B58A41FA8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23">
              <a:extLst>
                <a:ext uri="{FF2B5EF4-FFF2-40B4-BE49-F238E27FC236}">
                  <a16:creationId xmlns:a16="http://schemas.microsoft.com/office/drawing/2014/main" id="{863F5E17-FA4A-9D16-2251-148E852A66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B630D0ED-8857-BF75-660D-B0BE51E3A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CE514599-8CC2-C075-624C-0AB10A06F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tangle 27">
              <a:extLst>
                <a:ext uri="{FF2B5EF4-FFF2-40B4-BE49-F238E27FC236}">
                  <a16:creationId xmlns:a16="http://schemas.microsoft.com/office/drawing/2014/main" id="{58126ECA-6FE0-64E4-7260-0C1AFCFD10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4" name="Rectangle 28">
              <a:extLst>
                <a:ext uri="{FF2B5EF4-FFF2-40B4-BE49-F238E27FC236}">
                  <a16:creationId xmlns:a16="http://schemas.microsoft.com/office/drawing/2014/main" id="{30D0AD5A-A388-203D-F61B-488C1CA1E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5" name="Rectangle 29">
              <a:extLst>
                <a:ext uri="{FF2B5EF4-FFF2-40B4-BE49-F238E27FC236}">
                  <a16:creationId xmlns:a16="http://schemas.microsoft.com/office/drawing/2014/main" id="{30D6C104-2235-D46C-54EF-F8B77F2FDF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ECC5A23F-E807-AA6C-EC65-5496F4C959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40E5979-B771-2995-3605-32B83B170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8DD40F2-E59E-9A97-2764-C7B6F14AA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C0A6FEE-D9FA-87DE-74FF-4D54278C9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313FA7B-6E86-DE7E-E83C-5BB7CCB1C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83EC8D9-EB17-E512-CF47-803D08C3A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F227D47-4FFD-DC8F-048B-3D1951436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10F3D7B1-B9AC-7A52-C81E-BF0AB65E4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BC78138F-B119-7CFF-E3CB-5DA64415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3DA024AA-B056-7534-17B1-07D7819C8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8" name="Rectangle 29">
              <a:extLst>
                <a:ext uri="{FF2B5EF4-FFF2-40B4-BE49-F238E27FC236}">
                  <a16:creationId xmlns:a16="http://schemas.microsoft.com/office/drawing/2014/main" id="{3F436D93-3AAB-24CB-ADAB-E7FCCCE78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BE33D851-FED2-D817-36D3-C69573BFF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B75146E5-9B6A-B3AB-9DB6-522939E192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2D12F8F-2F87-2706-655C-90EB6742B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067" y="2404534"/>
            <a:ext cx="7766936" cy="16463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 err="1"/>
              <a:t>Leistungsmessung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476840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B2F808-75D2-FE17-66F5-8D5B39651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de-DE">
                <a:solidFill>
                  <a:schemeClr val="bg1"/>
                </a:solidFill>
              </a:rPr>
              <a:t>Leistungsmessung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388441-7456-F750-80FC-2F7826424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Zeit, </a:t>
            </a:r>
            <a:r>
              <a:rPr lang="en-US" dirty="0" err="1">
                <a:solidFill>
                  <a:schemeClr val="bg1"/>
                </a:solidFill>
              </a:rPr>
              <a:t>wie</a:t>
            </a:r>
            <a:r>
              <a:rPr lang="en-US" dirty="0">
                <a:solidFill>
                  <a:schemeClr val="bg1"/>
                </a:solidFill>
              </a:rPr>
              <a:t> lang das System </a:t>
            </a:r>
            <a:r>
              <a:rPr lang="en-US" dirty="0" err="1">
                <a:solidFill>
                  <a:schemeClr val="bg1"/>
                </a:solidFill>
              </a:rPr>
              <a:t>monatlich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Betrieb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ist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Content Placeholder 8" descr="A diagram of a company&#10;&#10;AI-generated content may be incorrect.">
            <a:extLst>
              <a:ext uri="{FF2B5EF4-FFF2-40B4-BE49-F238E27FC236}">
                <a16:creationId xmlns:a16="http://schemas.microsoft.com/office/drawing/2014/main" id="{781C302D-83D1-5177-070D-C64DA09B3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984" y="0"/>
            <a:ext cx="7397027" cy="6213502"/>
          </a:xfrm>
          <a:prstGeom prst="rect">
            <a:avLst/>
          </a:prstGeom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6B546C9-3791-3CAA-B9CF-C2437AA16BF4}"/>
              </a:ext>
            </a:extLst>
          </p:cNvPr>
          <p:cNvSpPr/>
          <p:nvPr/>
        </p:nvSpPr>
        <p:spPr>
          <a:xfrm>
            <a:off x="6004730" y="2160590"/>
            <a:ext cx="1774093" cy="126841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14ADD41-3F52-6679-40E9-57BF110FBD9F}"/>
              </a:ext>
            </a:extLst>
          </p:cNvPr>
          <p:cNvSpPr/>
          <p:nvPr/>
        </p:nvSpPr>
        <p:spPr>
          <a:xfrm>
            <a:off x="704506" y="2078892"/>
            <a:ext cx="3312602" cy="79717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0FF9BD-A3A1-DD5A-2192-5EAA2B32D458}"/>
              </a:ext>
            </a:extLst>
          </p:cNvPr>
          <p:cNvCxnSpPr>
            <a:endCxn id="12" idx="1"/>
          </p:cNvCxnSpPr>
          <p:nvPr/>
        </p:nvCxnSpPr>
        <p:spPr>
          <a:xfrm>
            <a:off x="4024923" y="2493108"/>
            <a:ext cx="1979807" cy="30168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843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EB1ED9-040D-787D-F761-08A65E910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A254BAC-7775-90FF-7431-B2F12B82D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2A449B-D046-FC35-F6F9-45CB22F3A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D00E8F9C-6EFA-672C-7413-8DE45AE57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7D8C14-44EE-FE2E-A471-47828411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de-DE">
                <a:solidFill>
                  <a:schemeClr val="bg1"/>
                </a:solidFill>
              </a:rPr>
              <a:t>Leistungsmessung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3A262C9-ABB7-FDEF-BA74-8BD006894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Zeit, </a:t>
            </a:r>
            <a:r>
              <a:rPr lang="en-US" dirty="0" err="1">
                <a:solidFill>
                  <a:schemeClr val="bg1"/>
                </a:solidFill>
              </a:rPr>
              <a:t>wie</a:t>
            </a:r>
            <a:r>
              <a:rPr lang="en-US" dirty="0">
                <a:solidFill>
                  <a:schemeClr val="bg1"/>
                </a:solidFill>
              </a:rPr>
              <a:t> lang das System </a:t>
            </a:r>
            <a:r>
              <a:rPr lang="en-US" dirty="0" err="1">
                <a:solidFill>
                  <a:schemeClr val="bg1"/>
                </a:solidFill>
              </a:rPr>
              <a:t>monatlich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Betrieb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ist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Zeit, in der das System für den </a:t>
            </a:r>
            <a:r>
              <a:rPr lang="en-US" dirty="0" err="1">
                <a:solidFill>
                  <a:schemeClr val="bg1"/>
                </a:solidFill>
              </a:rPr>
              <a:t>Nutzer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verfügbar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ist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Content Placeholder 8" descr="A diagram of a company&#10;&#10;AI-generated content may be incorrect.">
            <a:extLst>
              <a:ext uri="{FF2B5EF4-FFF2-40B4-BE49-F238E27FC236}">
                <a16:creationId xmlns:a16="http://schemas.microsoft.com/office/drawing/2014/main" id="{AF73CA04-40ED-5E5F-C9DD-068C4A1F5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984" y="0"/>
            <a:ext cx="7397027" cy="6213502"/>
          </a:xfrm>
          <a:prstGeom prst="rect">
            <a:avLst/>
          </a:prstGeom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544F593E-BFA1-7A70-2AC3-8B216F02A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F0C951A-D843-D29D-CBC4-E4BBC888FD35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>
            <a:off x="4321272" y="3511766"/>
            <a:ext cx="5059903" cy="52643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585954E-6232-F598-FE0D-09E3DF75F575}"/>
              </a:ext>
            </a:extLst>
          </p:cNvPr>
          <p:cNvSpPr/>
          <p:nvPr/>
        </p:nvSpPr>
        <p:spPr>
          <a:xfrm>
            <a:off x="9381175" y="3428999"/>
            <a:ext cx="2817040" cy="121840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03A4025-685E-2A81-5F3E-6E987D191CF3}"/>
              </a:ext>
            </a:extLst>
          </p:cNvPr>
          <p:cNvSpPr/>
          <p:nvPr/>
        </p:nvSpPr>
        <p:spPr>
          <a:xfrm>
            <a:off x="661325" y="3142886"/>
            <a:ext cx="3659947" cy="73775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3553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B15B5-D24E-55C2-C97B-5F7AD054B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743A3DC-8E6F-C77E-7F32-A8A161B40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666AAA-8A98-4D03-0FAD-4EA39059F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1704F61-1256-E62F-0752-8F4E16045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F9CCC2-45F6-232D-376E-E23E10431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de-DE">
                <a:solidFill>
                  <a:schemeClr val="bg1"/>
                </a:solidFill>
              </a:rPr>
              <a:t>Leistungsmessung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BDCADC4-3304-F0FC-F173-2224B1164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Zeit, </a:t>
            </a:r>
            <a:r>
              <a:rPr lang="en-US" dirty="0" err="1">
                <a:solidFill>
                  <a:schemeClr val="bg1"/>
                </a:solidFill>
              </a:rPr>
              <a:t>wie</a:t>
            </a:r>
            <a:r>
              <a:rPr lang="en-US" dirty="0">
                <a:solidFill>
                  <a:schemeClr val="bg1"/>
                </a:solidFill>
              </a:rPr>
              <a:t> lang das System </a:t>
            </a:r>
            <a:r>
              <a:rPr lang="en-US" dirty="0" err="1">
                <a:solidFill>
                  <a:schemeClr val="bg1"/>
                </a:solidFill>
              </a:rPr>
              <a:t>monatlich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Betrieb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ist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Zeit, in der das System für den </a:t>
            </a:r>
            <a:r>
              <a:rPr lang="en-US" dirty="0" err="1">
                <a:solidFill>
                  <a:schemeClr val="bg1"/>
                </a:solidFill>
              </a:rPr>
              <a:t>Nutzer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verfügbar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ist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Zeit, in der </a:t>
            </a:r>
            <a:r>
              <a:rPr lang="en-US" dirty="0" err="1">
                <a:solidFill>
                  <a:schemeClr val="bg1"/>
                </a:solidFill>
              </a:rPr>
              <a:t>ein</a:t>
            </a:r>
            <a:r>
              <a:rPr lang="en-US" dirty="0">
                <a:solidFill>
                  <a:schemeClr val="bg1"/>
                </a:solidFill>
              </a:rPr>
              <a:t> Anbieter auf </a:t>
            </a:r>
            <a:r>
              <a:rPr lang="en-US" dirty="0" err="1">
                <a:solidFill>
                  <a:schemeClr val="bg1"/>
                </a:solidFill>
              </a:rPr>
              <a:t>Probleme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reagiert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Content Placeholder 8" descr="A diagram of a company&#10;&#10;AI-generated content may be incorrect.">
            <a:extLst>
              <a:ext uri="{FF2B5EF4-FFF2-40B4-BE49-F238E27FC236}">
                <a16:creationId xmlns:a16="http://schemas.microsoft.com/office/drawing/2014/main" id="{33681924-D2DB-34BF-2A3A-8B930C4F7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984" y="0"/>
            <a:ext cx="7397027" cy="6213502"/>
          </a:xfrm>
          <a:prstGeom prst="rect">
            <a:avLst/>
          </a:prstGeom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7762B9F5-404D-C5F4-4A7F-4AB29BA4B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0FA1C2-EAB0-53B9-8D79-6A6F2A170184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 flipV="1">
            <a:off x="4507115" y="2844800"/>
            <a:ext cx="4867845" cy="18065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15551B8-4D31-B65B-D1C2-19F8DE9A37F4}"/>
              </a:ext>
            </a:extLst>
          </p:cNvPr>
          <p:cNvSpPr/>
          <p:nvPr/>
        </p:nvSpPr>
        <p:spPr>
          <a:xfrm>
            <a:off x="9374960" y="2235597"/>
            <a:ext cx="2817040" cy="121840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138A9E0-EE46-36A1-EAEC-1548D3FCAE44}"/>
              </a:ext>
            </a:extLst>
          </p:cNvPr>
          <p:cNvSpPr/>
          <p:nvPr/>
        </p:nvSpPr>
        <p:spPr>
          <a:xfrm>
            <a:off x="661325" y="4282433"/>
            <a:ext cx="3845790" cy="73775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0549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116752-9FF3-2902-F4E3-2E2AAB832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54F4F01-0D57-C350-8A92-2E213B509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F7F81D-374D-69F2-2F7D-E68DE166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C8E43AE4-F1E8-DC5D-5984-7CC8B6209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1FBE1D-7247-A819-9FB9-71F9F100C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de-DE">
                <a:solidFill>
                  <a:schemeClr val="bg1"/>
                </a:solidFill>
              </a:rPr>
              <a:t>Leistungsmessung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D7BF91A-E6F0-0281-2A64-FC37CCC26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Zeit, </a:t>
            </a:r>
            <a:r>
              <a:rPr lang="en-US" dirty="0" err="1">
                <a:solidFill>
                  <a:schemeClr val="bg1"/>
                </a:solidFill>
              </a:rPr>
              <a:t>wie</a:t>
            </a:r>
            <a:r>
              <a:rPr lang="en-US" dirty="0">
                <a:solidFill>
                  <a:schemeClr val="bg1"/>
                </a:solidFill>
              </a:rPr>
              <a:t> lang das System </a:t>
            </a:r>
            <a:r>
              <a:rPr lang="en-US" dirty="0" err="1">
                <a:solidFill>
                  <a:schemeClr val="bg1"/>
                </a:solidFill>
              </a:rPr>
              <a:t>monatlich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Betrieb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ist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Zeit, in der das System für den </a:t>
            </a:r>
            <a:r>
              <a:rPr lang="en-US" dirty="0" err="1">
                <a:solidFill>
                  <a:schemeClr val="bg1"/>
                </a:solidFill>
              </a:rPr>
              <a:t>Nutzer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verfügbar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ist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Zeit, in der </a:t>
            </a:r>
            <a:r>
              <a:rPr lang="en-US" dirty="0" err="1">
                <a:solidFill>
                  <a:schemeClr val="bg1"/>
                </a:solidFill>
              </a:rPr>
              <a:t>ein</a:t>
            </a:r>
            <a:r>
              <a:rPr lang="en-US" dirty="0">
                <a:solidFill>
                  <a:schemeClr val="bg1"/>
                </a:solidFill>
              </a:rPr>
              <a:t> Anbieter auf </a:t>
            </a:r>
            <a:r>
              <a:rPr lang="en-US" dirty="0" err="1">
                <a:solidFill>
                  <a:schemeClr val="bg1"/>
                </a:solidFill>
              </a:rPr>
              <a:t>Probleme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reagiert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Content Placeholder 8" descr="A diagram of a company&#10;&#10;AI-generated content may be incorrect.">
            <a:extLst>
              <a:ext uri="{FF2B5EF4-FFF2-40B4-BE49-F238E27FC236}">
                <a16:creationId xmlns:a16="http://schemas.microsoft.com/office/drawing/2014/main" id="{E0E0E1B0-4784-5EC8-AEFA-05DECC1B7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984" y="0"/>
            <a:ext cx="7397027" cy="6213502"/>
          </a:xfrm>
          <a:prstGeom prst="rect">
            <a:avLst/>
          </a:prstGeom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79FF7295-1F12-EE83-484E-FD2D5C3F4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85DEC8-98EB-90AF-DF0F-FE1FD0148B5D}"/>
              </a:ext>
            </a:extLst>
          </p:cNvPr>
          <p:cNvSpPr/>
          <p:nvPr/>
        </p:nvSpPr>
        <p:spPr>
          <a:xfrm>
            <a:off x="8724652" y="984738"/>
            <a:ext cx="2201256" cy="117585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ABD8BC2-D961-DDB1-53A8-4F1B2F1D07C8}"/>
              </a:ext>
            </a:extLst>
          </p:cNvPr>
          <p:cNvSpPr/>
          <p:nvPr/>
        </p:nvSpPr>
        <p:spPr>
          <a:xfrm>
            <a:off x="6475130" y="984738"/>
            <a:ext cx="1846260" cy="117585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F2A89C-1944-269A-9C13-D96535810D52}"/>
              </a:ext>
            </a:extLst>
          </p:cNvPr>
          <p:cNvSpPr/>
          <p:nvPr/>
        </p:nvSpPr>
        <p:spPr>
          <a:xfrm>
            <a:off x="5150338" y="3464987"/>
            <a:ext cx="2529200" cy="117585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E0A97A0-5E03-3F83-4E92-09242A3C5E5E}"/>
              </a:ext>
            </a:extLst>
          </p:cNvPr>
          <p:cNvSpPr/>
          <p:nvPr/>
        </p:nvSpPr>
        <p:spPr>
          <a:xfrm>
            <a:off x="6307014" y="4697411"/>
            <a:ext cx="2014375" cy="117585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FF8EA7-CA0A-0EFB-0AAE-408DB9B7024E}"/>
              </a:ext>
            </a:extLst>
          </p:cNvPr>
          <p:cNvSpPr/>
          <p:nvPr/>
        </p:nvSpPr>
        <p:spPr>
          <a:xfrm>
            <a:off x="8723855" y="4697411"/>
            <a:ext cx="2397437" cy="117585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066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E6FAB-CAC9-EE13-2F80-D471D346B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76128-97A8-566B-8B60-6C7E4D4C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067" y="2404534"/>
            <a:ext cx="7766936" cy="16463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 err="1"/>
              <a:t>Arten</a:t>
            </a:r>
            <a:r>
              <a:rPr lang="en-US" sz="5400" dirty="0"/>
              <a:t> von SLAs</a:t>
            </a:r>
          </a:p>
        </p:txBody>
      </p:sp>
    </p:spTree>
    <p:extLst>
      <p:ext uri="{BB962C8B-B14F-4D97-AF65-F5344CB8AC3E}">
        <p14:creationId xmlns:p14="http://schemas.microsoft.com/office/powerpoint/2010/main" val="1852466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B0AC07-230B-21E2-7B79-CC08361CB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8EC1B3-9B16-1126-CF75-09B7B0613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de-DE">
                <a:solidFill>
                  <a:schemeClr val="bg1"/>
                </a:solidFill>
              </a:rPr>
              <a:t>Arten von SLAs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7F5ED98F-41CA-FB7C-E575-8A3EB17E8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223391"/>
            <a:ext cx="3473079" cy="3059167"/>
          </a:xfr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300000"/>
              </a:lnSpc>
            </a:pPr>
            <a:r>
              <a:rPr lang="en-US" dirty="0">
                <a:solidFill>
                  <a:schemeClr val="bg1"/>
                </a:solidFill>
              </a:rPr>
              <a:t>Hohe </a:t>
            </a:r>
            <a:r>
              <a:rPr lang="en-US" dirty="0" err="1">
                <a:solidFill>
                  <a:schemeClr val="bg1"/>
                </a:solidFill>
              </a:rPr>
              <a:t>Kundenzufriedenheit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300000"/>
              </a:lnSpc>
            </a:pPr>
            <a:r>
              <a:rPr lang="en-US" dirty="0">
                <a:solidFill>
                  <a:schemeClr val="bg1"/>
                </a:solidFill>
              </a:rPr>
              <a:t>Klare </a:t>
            </a:r>
            <a:r>
              <a:rPr lang="en-US" dirty="0" err="1">
                <a:solidFill>
                  <a:schemeClr val="bg1"/>
                </a:solidFill>
              </a:rPr>
              <a:t>Struktur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300000"/>
              </a:lnSpc>
            </a:pPr>
            <a:r>
              <a:rPr lang="en-US" dirty="0">
                <a:solidFill>
                  <a:schemeClr val="bg1"/>
                </a:solidFill>
              </a:rPr>
              <a:t>Hoher </a:t>
            </a:r>
            <a:r>
              <a:rPr lang="en-US" dirty="0" err="1">
                <a:solidFill>
                  <a:schemeClr val="bg1"/>
                </a:solidFill>
              </a:rPr>
              <a:t>Verwaltungsaufwand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4" name="Content Placeholder 13" descr="A diagram of a company&#10;&#10;AI-generated content may be incorrect.">
            <a:extLst>
              <a:ext uri="{FF2B5EF4-FFF2-40B4-BE49-F238E27FC236}">
                <a16:creationId xmlns:a16="http://schemas.microsoft.com/office/drawing/2014/main" id="{0B357CD0-3785-4F9C-C537-4A2AD1E77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301" y="1105629"/>
            <a:ext cx="6343674" cy="4646741"/>
          </a:xfrm>
          <a:prstGeom prst="rect">
            <a:avLst/>
          </a:prstGeom>
        </p:spPr>
      </p:pic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40EF63D-8E5F-2903-9AD3-89A903EA08D8}"/>
              </a:ext>
            </a:extLst>
          </p:cNvPr>
          <p:cNvSpPr/>
          <p:nvPr/>
        </p:nvSpPr>
        <p:spPr>
          <a:xfrm>
            <a:off x="5729301" y="1139604"/>
            <a:ext cx="2267331" cy="2167574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2087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B9F3FE-692D-1EA8-2F0F-D2E241066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FA96A45-6788-E1B5-2A73-BDEEEABEC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42EBD2-0FCC-813B-DEF7-388EDF345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B893402F-69B0-B86B-A0C3-74F4475AF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8CC298-857D-1B5E-ECEB-A8E0A3229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de-DE">
                <a:solidFill>
                  <a:schemeClr val="bg1"/>
                </a:solidFill>
              </a:rPr>
              <a:t>Arten von SLAs</a:t>
            </a:r>
          </a:p>
        </p:txBody>
      </p:sp>
      <p:pic>
        <p:nvPicPr>
          <p:cNvPr id="14" name="Content Placeholder 13" descr="A diagram of a company&#10;&#10;AI-generated content may be incorrect.">
            <a:extLst>
              <a:ext uri="{FF2B5EF4-FFF2-40B4-BE49-F238E27FC236}">
                <a16:creationId xmlns:a16="http://schemas.microsoft.com/office/drawing/2014/main" id="{E8DF46F5-4C2F-2154-FE13-C77476885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301" y="1105626"/>
            <a:ext cx="6343674" cy="4646741"/>
          </a:xfrm>
          <a:prstGeom prst="rect">
            <a:avLst/>
          </a:prstGeom>
        </p:spPr>
      </p:pic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196FE284-D3E9-50F3-255C-8AE1F1EA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4B00A29-31C3-E786-71D7-20CB8020622F}"/>
              </a:ext>
            </a:extLst>
          </p:cNvPr>
          <p:cNvSpPr/>
          <p:nvPr/>
        </p:nvSpPr>
        <p:spPr>
          <a:xfrm>
            <a:off x="9712731" y="1139604"/>
            <a:ext cx="2267331" cy="2167574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32836-B6C8-453A-7D00-5D5A53BFE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072813"/>
            <a:ext cx="4436317" cy="3880773"/>
          </a:xfrm>
        </p:spPr>
        <p:txBody>
          <a:bodyPr/>
          <a:lstStyle/>
          <a:p>
            <a:pPr>
              <a:lnSpc>
                <a:spcPct val="300000"/>
              </a:lnSpc>
            </a:pPr>
            <a:r>
              <a:rPr lang="en-US" dirty="0">
                <a:solidFill>
                  <a:schemeClr val="bg1"/>
                </a:solidFill>
              </a:rPr>
              <a:t>Klare Standards</a:t>
            </a:r>
          </a:p>
          <a:p>
            <a:pPr>
              <a:lnSpc>
                <a:spcPct val="300000"/>
              </a:lnSpc>
            </a:pPr>
            <a:r>
              <a:rPr lang="en-US" dirty="0" err="1">
                <a:solidFill>
                  <a:schemeClr val="bg1"/>
                </a:solidFill>
              </a:rPr>
              <a:t>Einfache</a:t>
            </a:r>
            <a:r>
              <a:rPr lang="en-US" dirty="0">
                <a:solidFill>
                  <a:schemeClr val="bg1"/>
                </a:solidFill>
              </a:rPr>
              <a:t> Verwaltung</a:t>
            </a:r>
          </a:p>
          <a:p>
            <a:pPr>
              <a:lnSpc>
                <a:spcPct val="300000"/>
              </a:lnSpc>
            </a:pPr>
            <a:r>
              <a:rPr lang="en-US" dirty="0">
                <a:solidFill>
                  <a:schemeClr val="bg1"/>
                </a:solidFill>
              </a:rPr>
              <a:t>Keine </a:t>
            </a:r>
            <a:r>
              <a:rPr lang="en-US" dirty="0" err="1">
                <a:solidFill>
                  <a:schemeClr val="bg1"/>
                </a:solidFill>
              </a:rPr>
              <a:t>Berücksichtigung</a:t>
            </a:r>
            <a:r>
              <a:rPr lang="en-US" dirty="0">
                <a:solidFill>
                  <a:schemeClr val="bg1"/>
                </a:solidFill>
              </a:rPr>
              <a:t> von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</a:t>
            </a:r>
            <a:r>
              <a:rPr lang="en-US" dirty="0" err="1">
                <a:solidFill>
                  <a:schemeClr val="bg1"/>
                </a:solidFill>
              </a:rPr>
              <a:t>besonderen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Anforderungen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6565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8A5E76-FDC6-BF87-C5BA-BCD780373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AA437CC-44C8-4930-98F9-148B92A12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AD3AA2-A42C-1633-DE72-41E0996E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E02BCCCD-3FB6-1FED-10C3-9AEA0B51D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9A4D6-4745-17DD-5D5C-379EC5D2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de-DE">
                <a:solidFill>
                  <a:schemeClr val="bg1"/>
                </a:solidFill>
              </a:rPr>
              <a:t>Arten von SLAs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F4A6480-3238-2C7F-0CDE-9872A691B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278286"/>
            <a:ext cx="4203045" cy="344011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Hohe </a:t>
            </a:r>
            <a:r>
              <a:rPr lang="en-US" dirty="0" err="1">
                <a:solidFill>
                  <a:schemeClr val="bg1"/>
                </a:solidFill>
              </a:rPr>
              <a:t>Flexibilität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Balance </a:t>
            </a:r>
            <a:r>
              <a:rPr lang="en-US" dirty="0" err="1">
                <a:solidFill>
                  <a:schemeClr val="bg1"/>
                </a:solidFill>
              </a:rPr>
              <a:t>zwischen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Standardisierung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und </a:t>
            </a:r>
            <a:r>
              <a:rPr lang="en-US" dirty="0" err="1">
                <a:solidFill>
                  <a:schemeClr val="bg1"/>
                </a:solidFill>
              </a:rPr>
              <a:t>Individualisierung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r>
              <a:rPr lang="en-US" dirty="0" err="1">
                <a:solidFill>
                  <a:schemeClr val="bg1"/>
                </a:solidFill>
              </a:rPr>
              <a:t>Komplexe</a:t>
            </a:r>
            <a:r>
              <a:rPr lang="en-US" dirty="0">
                <a:solidFill>
                  <a:schemeClr val="bg1"/>
                </a:solidFill>
              </a:rPr>
              <a:t> Verwaltung &amp; Gutes SLA-Management</a:t>
            </a:r>
          </a:p>
        </p:txBody>
      </p:sp>
      <p:pic>
        <p:nvPicPr>
          <p:cNvPr id="14" name="Content Placeholder 13" descr="A diagram of a company&#10;&#10;AI-generated content may be incorrect.">
            <a:extLst>
              <a:ext uri="{FF2B5EF4-FFF2-40B4-BE49-F238E27FC236}">
                <a16:creationId xmlns:a16="http://schemas.microsoft.com/office/drawing/2014/main" id="{A9F439A5-6ACE-09D0-18D0-0E5C31165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301" y="1105626"/>
            <a:ext cx="6343674" cy="4646741"/>
          </a:xfrm>
          <a:prstGeom prst="rect">
            <a:avLst/>
          </a:prstGeom>
        </p:spPr>
      </p:pic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19B0114D-D37A-06E5-A701-4D4389ABF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03CEA79-B33A-8FF3-B35B-CF1B536A1817}"/>
              </a:ext>
            </a:extLst>
          </p:cNvPr>
          <p:cNvSpPr/>
          <p:nvPr/>
        </p:nvSpPr>
        <p:spPr>
          <a:xfrm>
            <a:off x="9712731" y="3550822"/>
            <a:ext cx="2267331" cy="2167574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0356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539D8B-4976-466B-E4BC-951525104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CEAE10C-08AA-8D24-2DFB-2D770ED63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0073D3-F336-FFD6-7E56-25EB3B1E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2610D59E-05C5-5FDE-065F-50205F929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61D48-98A2-27D9-BB25-9D46EE146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Arten von SLAs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BB3989F-00E2-32EC-C4FE-7F73807A1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278286"/>
            <a:ext cx="4203045" cy="344011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Interne </a:t>
            </a:r>
            <a:r>
              <a:rPr lang="en-US">
                <a:solidFill>
                  <a:schemeClr val="bg1"/>
                </a:solidFill>
              </a:rPr>
              <a:t>SLAs = </a:t>
            </a:r>
            <a:r>
              <a:rPr lang="en-US" dirty="0">
                <a:solidFill>
                  <a:schemeClr val="bg1"/>
                </a:solidFill>
              </a:rPr>
              <a:t>OLAs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=&gt; Operational Level Agreement</a:t>
            </a:r>
          </a:p>
        </p:txBody>
      </p:sp>
      <p:pic>
        <p:nvPicPr>
          <p:cNvPr id="14" name="Content Placeholder 13" descr="A diagram of a company&#10;&#10;AI-generated content may be incorrect.">
            <a:extLst>
              <a:ext uri="{FF2B5EF4-FFF2-40B4-BE49-F238E27FC236}">
                <a16:creationId xmlns:a16="http://schemas.microsoft.com/office/drawing/2014/main" id="{DAC26C5E-1011-52A0-B439-5B41CE7F5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301" y="1105626"/>
            <a:ext cx="6343674" cy="4646741"/>
          </a:xfrm>
          <a:prstGeom prst="rect">
            <a:avLst/>
          </a:prstGeom>
        </p:spPr>
      </p:pic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5BD58207-DAE1-E16D-2B4E-83876B7A5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E8465F7-A481-1FA0-9BAF-D305D3B45F5A}"/>
              </a:ext>
            </a:extLst>
          </p:cNvPr>
          <p:cNvSpPr/>
          <p:nvPr/>
        </p:nvSpPr>
        <p:spPr>
          <a:xfrm>
            <a:off x="5729301" y="3513934"/>
            <a:ext cx="2267331" cy="2167574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38077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0AAF51-A411-564F-5B91-57C11CDDA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4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5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7577DEC-D9A5-404D-9789-702F4319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EEA9366-CEA8-4F23-B065-4337F0D8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4A03D6-39B4-4278-9BE1-A07E02449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BE459AF-3736-4886-82E0-9B5DA427B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B6B88EF-180C-4E39-8A3F-A52E87110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52DFAACF-64D0-4621-8FF4-E2F03C3E8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36611FF0-65B3-49DB-97C6-1B72AAD0F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0F7407FE-86B1-4890-9D80-9406FBF29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8" name="Rectangle 29">
              <a:extLst>
                <a:ext uri="{FF2B5EF4-FFF2-40B4-BE49-F238E27FC236}">
                  <a16:creationId xmlns:a16="http://schemas.microsoft.com/office/drawing/2014/main" id="{EBD42D5B-8F87-45B3-98B3-C66944F92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F5E04699-59E1-4468-9E7C-83070EEB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F2AE8F13-9A52-4D7F-9637-321EA7CF3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146E76-911C-E9B6-169A-2A20D0AC5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067" y="2404534"/>
            <a:ext cx="7766936" cy="16463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 err="1"/>
              <a:t>Komponenten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654133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63B1D-6F2C-CB34-0F78-32373B155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Komponenten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4FB540-55BF-CA52-74F2-727EF4590A13}"/>
              </a:ext>
            </a:extLst>
          </p:cNvPr>
          <p:cNvSpPr/>
          <p:nvPr/>
        </p:nvSpPr>
        <p:spPr>
          <a:xfrm>
            <a:off x="677334" y="2684604"/>
            <a:ext cx="1639019" cy="741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Überblick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0C2CD6-14C3-C8C3-BD96-2590A63068E0}"/>
              </a:ext>
            </a:extLst>
          </p:cNvPr>
          <p:cNvSpPr/>
          <p:nvPr/>
        </p:nvSpPr>
        <p:spPr>
          <a:xfrm>
            <a:off x="3876135" y="2705080"/>
            <a:ext cx="1877684" cy="741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Dienstleistungen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FD4559-CB27-C4A4-78A3-62645C939F2A}"/>
              </a:ext>
            </a:extLst>
          </p:cNvPr>
          <p:cNvSpPr/>
          <p:nvPr/>
        </p:nvSpPr>
        <p:spPr>
          <a:xfrm>
            <a:off x="677334" y="1510773"/>
            <a:ext cx="2309004" cy="741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Leistungsverfolgung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52858F-C7C0-BE10-ACC5-D3AFA29362B7}"/>
              </a:ext>
            </a:extLst>
          </p:cNvPr>
          <p:cNvSpPr/>
          <p:nvPr/>
        </p:nvSpPr>
        <p:spPr>
          <a:xfrm>
            <a:off x="7177469" y="2693498"/>
            <a:ext cx="1639019" cy="741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Stakeholder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A2413-B61C-20CE-0963-5AA4BDD8A7DC}"/>
              </a:ext>
            </a:extLst>
          </p:cNvPr>
          <p:cNvSpPr/>
          <p:nvPr/>
        </p:nvSpPr>
        <p:spPr>
          <a:xfrm>
            <a:off x="7177469" y="5117962"/>
            <a:ext cx="2530415" cy="741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Sicherheitsprotokolle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5146B4-593C-D7A3-A99A-D461C36029DC}"/>
              </a:ext>
            </a:extLst>
          </p:cNvPr>
          <p:cNvSpPr/>
          <p:nvPr/>
        </p:nvSpPr>
        <p:spPr>
          <a:xfrm>
            <a:off x="3876135" y="5087540"/>
            <a:ext cx="1661483" cy="741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Ausschlüsse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CD8795-E81E-1241-DB7D-1A49151C2F2A}"/>
              </a:ext>
            </a:extLst>
          </p:cNvPr>
          <p:cNvSpPr/>
          <p:nvPr/>
        </p:nvSpPr>
        <p:spPr>
          <a:xfrm>
            <a:off x="7177469" y="1478132"/>
            <a:ext cx="2130724" cy="741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Berichterstattung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960437-DE28-5497-4F07-4238AEB673F1}"/>
              </a:ext>
            </a:extLst>
          </p:cNvPr>
          <p:cNvSpPr/>
          <p:nvPr/>
        </p:nvSpPr>
        <p:spPr>
          <a:xfrm>
            <a:off x="3876135" y="1510773"/>
            <a:ext cx="2219865" cy="741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Wiedergutmachung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ED55AC-E1BB-A1C0-3438-42B957FCCBF8}"/>
              </a:ext>
            </a:extLst>
          </p:cNvPr>
          <p:cNvSpPr/>
          <p:nvPr/>
        </p:nvSpPr>
        <p:spPr>
          <a:xfrm>
            <a:off x="627916" y="5123630"/>
            <a:ext cx="2219865" cy="741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Unterschriften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7D1649-B84E-93EE-A2D7-A0189E02476F}"/>
              </a:ext>
            </a:extLst>
          </p:cNvPr>
          <p:cNvSpPr/>
          <p:nvPr/>
        </p:nvSpPr>
        <p:spPr>
          <a:xfrm>
            <a:off x="627916" y="3858435"/>
            <a:ext cx="2324129" cy="741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Kündigungsprozess &amp; Bedingungen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571F9A-54B1-9179-7A00-915E2281E44D}"/>
              </a:ext>
            </a:extLst>
          </p:cNvPr>
          <p:cNvSpPr/>
          <p:nvPr/>
        </p:nvSpPr>
        <p:spPr>
          <a:xfrm>
            <a:off x="3876135" y="3899387"/>
            <a:ext cx="2246488" cy="741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Prozesse zur Überprüfung &amp; Anpassung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C3B165-D9B7-E7AC-23E9-947824229185}"/>
              </a:ext>
            </a:extLst>
          </p:cNvPr>
          <p:cNvSpPr/>
          <p:nvPr/>
        </p:nvSpPr>
        <p:spPr>
          <a:xfrm>
            <a:off x="7177469" y="3908864"/>
            <a:ext cx="2476529" cy="741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Entschädigungsklausel</a:t>
            </a:r>
          </a:p>
        </p:txBody>
      </p:sp>
    </p:spTree>
    <p:extLst>
      <p:ext uri="{BB962C8B-B14F-4D97-AF65-F5344CB8AC3E}">
        <p14:creationId xmlns:p14="http://schemas.microsoft.com/office/powerpoint/2010/main" val="1789516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2BABDE-022D-637A-A526-EC559C94F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425786B-8DEF-B6F7-759A-B42ADEE9F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E2F9E19-783B-0F96-AFDF-160D6CA42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37EC6F1-077A-E0F4-B42F-3CA3DF6F0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23">
              <a:extLst>
                <a:ext uri="{FF2B5EF4-FFF2-40B4-BE49-F238E27FC236}">
                  <a16:creationId xmlns:a16="http://schemas.microsoft.com/office/drawing/2014/main" id="{4D031EDC-CCBE-2127-97B6-9710F67D1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FBD1F2CA-1734-9B68-DFCB-0F12CB704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B918D096-A486-B0A5-49C8-0265EF5CA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tangle 27">
              <a:extLst>
                <a:ext uri="{FF2B5EF4-FFF2-40B4-BE49-F238E27FC236}">
                  <a16:creationId xmlns:a16="http://schemas.microsoft.com/office/drawing/2014/main" id="{0F660B3D-A5B1-1399-9C0B-1741BF6CBB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4" name="Rectangle 28">
              <a:extLst>
                <a:ext uri="{FF2B5EF4-FFF2-40B4-BE49-F238E27FC236}">
                  <a16:creationId xmlns:a16="http://schemas.microsoft.com/office/drawing/2014/main" id="{684393CE-ED4D-EADF-EDB3-0D6193DCBE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5" name="Rectangle 29">
              <a:extLst>
                <a:ext uri="{FF2B5EF4-FFF2-40B4-BE49-F238E27FC236}">
                  <a16:creationId xmlns:a16="http://schemas.microsoft.com/office/drawing/2014/main" id="{7BA3632B-4D6C-0988-B7BB-E83A76C551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1D334FA3-4654-0D49-BD80-541827A99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A42E5B7F-3545-2B40-13C7-48995774C4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244FBD3-B2EF-E239-CB88-B142A7EE4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A9B96C9-5125-8415-51C0-FECB9333E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BFEA7BF-EA76-76FE-EDBE-C5B61365D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963E0D2-7E2B-00D0-9E6C-0BCCFBE6B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0A7E983-9E0E-F22E-F529-F99FAB13B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F140C738-E9A7-F6FC-1AB8-D52285FF41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AF648BC6-2F94-6A20-C45F-71D5AF9DD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B33E745C-971D-6FE1-E175-B0DA06D282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8" name="Rectangle 29">
              <a:extLst>
                <a:ext uri="{FF2B5EF4-FFF2-40B4-BE49-F238E27FC236}">
                  <a16:creationId xmlns:a16="http://schemas.microsoft.com/office/drawing/2014/main" id="{32B9A778-6D85-496D-506B-3587C83610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3279FFB7-D9E6-FFAF-1DFD-610327CD42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45AA2015-B652-690A-93D9-DEDA4DBF9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98B77F7-98D4-1496-BA08-75F8F08C0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067" y="2404534"/>
            <a:ext cx="7766936" cy="16463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 err="1"/>
              <a:t>Beispiel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4972394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D77D36-18D1-E629-C368-763CB0CBA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30758D-100B-EBB4-FC10-48A89479C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SLA-Vertrag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Ein Musterbeispiel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9DAB506-799B-A9E1-F054-15834389C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Beschreibung</a:t>
            </a:r>
            <a:r>
              <a:rPr lang="en-US" dirty="0">
                <a:solidFill>
                  <a:schemeClr val="bg1"/>
                </a:solidFill>
              </a:rPr>
              <a:t> der </a:t>
            </a:r>
            <a:r>
              <a:rPr lang="en-US" dirty="0" err="1">
                <a:solidFill>
                  <a:schemeClr val="bg1"/>
                </a:solidFill>
              </a:rPr>
              <a:t>abgedeckten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Leistungen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2DE5B2-0CEF-BCC9-093F-AE0FDBE03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987" y="-6578"/>
            <a:ext cx="6485442" cy="686457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DDB77F-CBBF-A645-5C4E-31AE188F220B}"/>
              </a:ext>
            </a:extLst>
          </p:cNvPr>
          <p:cNvSpPr/>
          <p:nvPr/>
        </p:nvSpPr>
        <p:spPr>
          <a:xfrm>
            <a:off x="5623560" y="-6579"/>
            <a:ext cx="6242619" cy="1375609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3877C6B-8B8E-B434-DE66-93938A434927}"/>
              </a:ext>
            </a:extLst>
          </p:cNvPr>
          <p:cNvSpPr/>
          <p:nvPr/>
        </p:nvSpPr>
        <p:spPr>
          <a:xfrm>
            <a:off x="673754" y="2160590"/>
            <a:ext cx="3724510" cy="747202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2363C6-6CD8-A69D-B7F6-7FA00E3DB879}"/>
              </a:ext>
            </a:extLst>
          </p:cNvPr>
          <p:cNvCxnSpPr>
            <a:cxnSpLocks/>
            <a:stCxn id="11" idx="3"/>
            <a:endCxn id="5" idx="1"/>
          </p:cNvCxnSpPr>
          <p:nvPr/>
        </p:nvCxnSpPr>
        <p:spPr>
          <a:xfrm flipV="1">
            <a:off x="4398264" y="681226"/>
            <a:ext cx="1225296" cy="1852965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08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09951-518B-5FFA-363F-9DEC8B1F6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620D3AB-8CC0-E362-A00D-C41EB8116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59C626-BEEF-4C1C-2D13-27D72408E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C5253CE-FA44-59BE-BF45-95509DCA4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BCC9B1-4A56-559C-8D1F-011712915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SLA-Vertrag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Ein Musterbeispiel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1E8763-7D81-5FB2-F74F-CD40C6BF5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Beschreibung</a:t>
            </a:r>
            <a:r>
              <a:rPr lang="en-US" dirty="0">
                <a:solidFill>
                  <a:schemeClr val="bg1"/>
                </a:solidFill>
              </a:rPr>
              <a:t> der </a:t>
            </a:r>
            <a:r>
              <a:rPr lang="en-US" dirty="0" err="1">
                <a:solidFill>
                  <a:schemeClr val="bg1"/>
                </a:solidFill>
              </a:rPr>
              <a:t>abgedeckten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Leistungen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Definierte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Antwortzeiten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Bei </a:t>
            </a:r>
            <a:r>
              <a:rPr lang="en-US" sz="1800" dirty="0" err="1">
                <a:solidFill>
                  <a:schemeClr val="bg1"/>
                </a:solidFill>
              </a:rPr>
              <a:t>Nichteinhaltung</a:t>
            </a:r>
            <a:r>
              <a:rPr lang="en-US" sz="1800" dirty="0">
                <a:solidFill>
                  <a:schemeClr val="bg1"/>
                </a:solidFill>
              </a:rPr>
              <a:t>: Strafe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DED8C2B1-E544-77AC-53ED-09DAEC7FF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E5B4C4-27D2-65D0-49DC-552769B9D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987" y="-6578"/>
            <a:ext cx="6485442" cy="686457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0F3B14-C9AA-653E-8C40-F9538648D46B}"/>
              </a:ext>
            </a:extLst>
          </p:cNvPr>
          <p:cNvSpPr/>
          <p:nvPr/>
        </p:nvSpPr>
        <p:spPr>
          <a:xfrm>
            <a:off x="5333880" y="1472785"/>
            <a:ext cx="6781920" cy="5385212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7B26125-2D00-1E0A-7278-B283B1AC3283}"/>
              </a:ext>
            </a:extLst>
          </p:cNvPr>
          <p:cNvSpPr/>
          <p:nvPr/>
        </p:nvSpPr>
        <p:spPr>
          <a:xfrm>
            <a:off x="671638" y="3265998"/>
            <a:ext cx="3724511" cy="747202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3D9DC58-6CAC-4BC5-62D9-44FDB7614F3E}"/>
              </a:ext>
            </a:extLst>
          </p:cNvPr>
          <p:cNvCxnSpPr>
            <a:cxnSpLocks/>
            <a:stCxn id="15" idx="3"/>
            <a:endCxn id="6" idx="1"/>
          </p:cNvCxnSpPr>
          <p:nvPr/>
        </p:nvCxnSpPr>
        <p:spPr>
          <a:xfrm>
            <a:off x="4396149" y="3639599"/>
            <a:ext cx="937731" cy="525792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989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25C3AD-16A5-B578-FE31-4F21291C5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B229B8C-C731-2AC1-A8BA-F039C86DD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3F15C0-C73D-D007-7A20-95D1C3185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0B01A38-C244-0E25-AF09-9C73CBC7E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619384-32FF-8868-2E0A-A823634DA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SLA-Vertrag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Ein Musterbeispiel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66CC0521-4D88-226C-6669-BBB60005F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Beschreibung</a:t>
            </a:r>
            <a:r>
              <a:rPr lang="en-US" dirty="0">
                <a:solidFill>
                  <a:schemeClr val="bg1"/>
                </a:solidFill>
              </a:rPr>
              <a:t> der </a:t>
            </a:r>
            <a:r>
              <a:rPr lang="en-US" dirty="0" err="1">
                <a:solidFill>
                  <a:schemeClr val="bg1"/>
                </a:solidFill>
              </a:rPr>
              <a:t>abgedeckten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Leistungen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Definierte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Antwortzeiten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Bei </a:t>
            </a:r>
            <a:r>
              <a:rPr lang="en-US" sz="1800" dirty="0" err="1">
                <a:solidFill>
                  <a:schemeClr val="bg1"/>
                </a:solidFill>
              </a:rPr>
              <a:t>Nichteinhaltung</a:t>
            </a:r>
            <a:r>
              <a:rPr lang="en-US" sz="1800" dirty="0">
                <a:solidFill>
                  <a:schemeClr val="bg1"/>
                </a:solidFill>
              </a:rPr>
              <a:t>: Strafe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Je Nach Fall </a:t>
            </a:r>
            <a:r>
              <a:rPr lang="en-US" dirty="0" err="1">
                <a:solidFill>
                  <a:schemeClr val="bg1"/>
                </a:solidFill>
              </a:rPr>
              <a:t>unterschiedlicher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Schweregrad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23A47FCF-9932-98A2-5D71-E2848E621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9B992F-4124-330F-086F-20010C3D9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987" y="-6578"/>
            <a:ext cx="6485442" cy="686457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C4A054-7C2A-575C-19B0-0BD43F18E641}"/>
              </a:ext>
            </a:extLst>
          </p:cNvPr>
          <p:cNvSpPr/>
          <p:nvPr/>
        </p:nvSpPr>
        <p:spPr>
          <a:xfrm>
            <a:off x="5623560" y="2752344"/>
            <a:ext cx="6382512" cy="1260856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8D77DD5-BDDA-CE5F-396B-29E0EE6A7B5D}"/>
              </a:ext>
            </a:extLst>
          </p:cNvPr>
          <p:cNvSpPr/>
          <p:nvPr/>
        </p:nvSpPr>
        <p:spPr>
          <a:xfrm>
            <a:off x="5623560" y="4031903"/>
            <a:ext cx="6382512" cy="1454082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A04C8B-5BAB-CB6C-4861-996E51EEF825}"/>
              </a:ext>
            </a:extLst>
          </p:cNvPr>
          <p:cNvSpPr/>
          <p:nvPr/>
        </p:nvSpPr>
        <p:spPr>
          <a:xfrm>
            <a:off x="5597550" y="5507670"/>
            <a:ext cx="6382512" cy="1350327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9CF97A1-8260-533A-3F0F-7922E994A731}"/>
              </a:ext>
            </a:extLst>
          </p:cNvPr>
          <p:cNvSpPr/>
          <p:nvPr/>
        </p:nvSpPr>
        <p:spPr>
          <a:xfrm>
            <a:off x="707074" y="4376277"/>
            <a:ext cx="3724511" cy="747202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141EC9F-27A5-E09C-4602-38CD25D8101B}"/>
              </a:ext>
            </a:extLst>
          </p:cNvPr>
          <p:cNvCxnSpPr>
            <a:stCxn id="7" idx="1"/>
            <a:endCxn id="21" idx="3"/>
          </p:cNvCxnSpPr>
          <p:nvPr/>
        </p:nvCxnSpPr>
        <p:spPr>
          <a:xfrm flipH="1">
            <a:off x="4431585" y="3382772"/>
            <a:ext cx="1191975" cy="1367106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DA13FFD-7A8F-3D48-0027-FE393862E1FF}"/>
              </a:ext>
            </a:extLst>
          </p:cNvPr>
          <p:cNvCxnSpPr>
            <a:stCxn id="8" idx="1"/>
            <a:endCxn id="21" idx="3"/>
          </p:cNvCxnSpPr>
          <p:nvPr/>
        </p:nvCxnSpPr>
        <p:spPr>
          <a:xfrm flipH="1" flipV="1">
            <a:off x="4431585" y="4749878"/>
            <a:ext cx="1191975" cy="9066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BE0D256-8FA4-D167-F2EF-D24FF892BF2E}"/>
              </a:ext>
            </a:extLst>
          </p:cNvPr>
          <p:cNvCxnSpPr>
            <a:endCxn id="10" idx="1"/>
          </p:cNvCxnSpPr>
          <p:nvPr/>
        </p:nvCxnSpPr>
        <p:spPr>
          <a:xfrm>
            <a:off x="4431585" y="4749878"/>
            <a:ext cx="1165965" cy="1432956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54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FFE242-1A2C-1513-7D22-6AEE27FA1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8602694-9416-3D9F-46AB-483E179B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66F815-EC7C-984A-6922-380357793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D49FDED9-4ECB-8962-C121-81AE7319B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54E40A-ED32-3B29-02E5-36E017E1E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SLA-Vertrag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Ein Musterbeispiel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734CB610-1C41-64F3-A9E2-3DECA08BD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Beschreibung</a:t>
            </a:r>
            <a:r>
              <a:rPr lang="en-US" dirty="0">
                <a:solidFill>
                  <a:schemeClr val="bg1"/>
                </a:solidFill>
              </a:rPr>
              <a:t> der </a:t>
            </a:r>
            <a:r>
              <a:rPr lang="en-US" dirty="0" err="1">
                <a:solidFill>
                  <a:schemeClr val="bg1"/>
                </a:solidFill>
              </a:rPr>
              <a:t>abgedeckten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Leistungen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Definierte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Antwortzeiten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Bei </a:t>
            </a:r>
            <a:r>
              <a:rPr lang="en-US" sz="1800" dirty="0" err="1">
                <a:solidFill>
                  <a:schemeClr val="bg1"/>
                </a:solidFill>
              </a:rPr>
              <a:t>Nichteinhaltung</a:t>
            </a:r>
            <a:r>
              <a:rPr lang="en-US" sz="1800" dirty="0">
                <a:solidFill>
                  <a:schemeClr val="bg1"/>
                </a:solidFill>
              </a:rPr>
              <a:t>: Strafe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Je Nach Fall </a:t>
            </a:r>
            <a:r>
              <a:rPr lang="en-US" dirty="0" err="1">
                <a:solidFill>
                  <a:schemeClr val="bg1"/>
                </a:solidFill>
              </a:rPr>
              <a:t>unterschiedlicher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Schweregrad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Verpflichtungen</a:t>
            </a:r>
            <a:r>
              <a:rPr lang="en-US" dirty="0">
                <a:solidFill>
                  <a:schemeClr val="bg1"/>
                </a:solidFill>
              </a:rPr>
              <a:t> des Kunden</a:t>
            </a: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CFE8B4DE-6D02-4756-9F89-55D663D21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9E8E47-058C-713A-D2B4-9775FE2E6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987" y="-6578"/>
            <a:ext cx="6485442" cy="6864578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61BDB52-C1AB-3D55-1528-A8A9E194A22F}"/>
              </a:ext>
            </a:extLst>
          </p:cNvPr>
          <p:cNvSpPr/>
          <p:nvPr/>
        </p:nvSpPr>
        <p:spPr>
          <a:xfrm>
            <a:off x="8514486" y="2329154"/>
            <a:ext cx="3465576" cy="4535424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47BAF9-4BBD-EA2B-8FB9-0B8607113DD2}"/>
              </a:ext>
            </a:extLst>
          </p:cNvPr>
          <p:cNvSpPr/>
          <p:nvPr/>
        </p:nvSpPr>
        <p:spPr>
          <a:xfrm>
            <a:off x="723677" y="4995013"/>
            <a:ext cx="3724511" cy="605687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3E0F134-25A2-3110-67BA-9C8EFFD56D23}"/>
              </a:ext>
            </a:extLst>
          </p:cNvPr>
          <p:cNvCxnSpPr>
            <a:stCxn id="6" idx="3"/>
            <a:endCxn id="3" idx="1"/>
          </p:cNvCxnSpPr>
          <p:nvPr/>
        </p:nvCxnSpPr>
        <p:spPr>
          <a:xfrm flipV="1">
            <a:off x="4448188" y="4596866"/>
            <a:ext cx="4066298" cy="70099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081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00CCA3-9AE0-E4BD-A4B7-BD2BFB79C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823002D-B39C-CCE5-B1BB-63F975ED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812AA3-8400-9038-3F40-A7EC246E0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FFFB0F9-94A4-8075-7E00-4B4F834DD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79D4D9-882E-0943-491A-4FAD58B53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SLA-Vertrag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Ein Musterbeispiel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7851FF9-16C9-C0CB-7326-60D48AA8F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Beschreibung</a:t>
            </a:r>
            <a:r>
              <a:rPr lang="en-US" dirty="0">
                <a:solidFill>
                  <a:schemeClr val="bg1"/>
                </a:solidFill>
              </a:rPr>
              <a:t> der </a:t>
            </a:r>
            <a:r>
              <a:rPr lang="en-US" dirty="0" err="1">
                <a:solidFill>
                  <a:schemeClr val="bg1"/>
                </a:solidFill>
              </a:rPr>
              <a:t>abgedeckten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Leistungen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Definierte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Antwortzeiten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Bei </a:t>
            </a:r>
            <a:r>
              <a:rPr lang="en-US" sz="1800" dirty="0" err="1">
                <a:solidFill>
                  <a:schemeClr val="bg1"/>
                </a:solidFill>
              </a:rPr>
              <a:t>Nichteinhaltung</a:t>
            </a:r>
            <a:r>
              <a:rPr lang="en-US" sz="1800" dirty="0">
                <a:solidFill>
                  <a:schemeClr val="bg1"/>
                </a:solidFill>
              </a:rPr>
              <a:t>: Strafe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Je Nach Fall </a:t>
            </a:r>
            <a:r>
              <a:rPr lang="en-US" dirty="0" err="1">
                <a:solidFill>
                  <a:schemeClr val="bg1"/>
                </a:solidFill>
              </a:rPr>
              <a:t>unterschiedlicher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Schweregrad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Verpflichtungen</a:t>
            </a:r>
            <a:r>
              <a:rPr lang="en-US" dirty="0">
                <a:solidFill>
                  <a:schemeClr val="bg1"/>
                </a:solidFill>
              </a:rPr>
              <a:t> des Kunden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B454200C-2F96-8099-79DF-2769FE5A0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FAC163-64E4-3CD2-0224-EB3041D89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987" y="-6578"/>
            <a:ext cx="6485442" cy="686457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1B02941-FBD5-6BE0-6FAA-A4E86EF39ACF}"/>
              </a:ext>
            </a:extLst>
          </p:cNvPr>
          <p:cNvSpPr/>
          <p:nvPr/>
        </p:nvSpPr>
        <p:spPr>
          <a:xfrm>
            <a:off x="7768936" y="2357718"/>
            <a:ext cx="852704" cy="4500279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4367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4B7716-E5BA-E03F-99CB-4F68C1D45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CE41F48-E7C0-DDCF-2472-B07554564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4BBF2AF-5160-F2D2-250F-867373030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B6DFE96-60D9-8156-B4BF-F4B597E93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23">
              <a:extLst>
                <a:ext uri="{FF2B5EF4-FFF2-40B4-BE49-F238E27FC236}">
                  <a16:creationId xmlns:a16="http://schemas.microsoft.com/office/drawing/2014/main" id="{3A3E3019-2E73-430B-548B-757EB3FB7D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F9B855A0-61BA-212D-1A9C-B50531CC8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0C6C2366-133E-0CFE-8088-F8D7D3FA23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tangle 27">
              <a:extLst>
                <a:ext uri="{FF2B5EF4-FFF2-40B4-BE49-F238E27FC236}">
                  <a16:creationId xmlns:a16="http://schemas.microsoft.com/office/drawing/2014/main" id="{6DF2EAC4-F3C2-6893-261B-F7C80A673E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4" name="Rectangle 28">
              <a:extLst>
                <a:ext uri="{FF2B5EF4-FFF2-40B4-BE49-F238E27FC236}">
                  <a16:creationId xmlns:a16="http://schemas.microsoft.com/office/drawing/2014/main" id="{971BD6BC-0AFC-121A-01E9-A99DC4C8B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5" name="Rectangle 29">
              <a:extLst>
                <a:ext uri="{FF2B5EF4-FFF2-40B4-BE49-F238E27FC236}">
                  <a16:creationId xmlns:a16="http://schemas.microsoft.com/office/drawing/2014/main" id="{1E6A1F69-C49E-605E-971D-C2ABF07D9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21CDC83-B14B-7FD6-3AE2-69BBE519B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850DB07-5A3F-6CC0-5964-5D9D89B55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995B63E-E91E-A30B-354F-38A71795B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993153-DAE7-923A-11C5-B69AA7439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3556C17-B7AD-D843-1EE7-502C07B17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5486E3D-8CC8-85C3-C420-8A5F155326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3D1A9F0-C8A4-A307-8367-D9A89DEE0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7E8D9D74-08C8-A9C9-6E1D-DABAF8BBC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DFF9B397-C822-4E13-CAB8-DD13C3410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A2971CC0-3D56-7AD0-3DFC-EC27E48BC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8" name="Rectangle 29">
              <a:extLst>
                <a:ext uri="{FF2B5EF4-FFF2-40B4-BE49-F238E27FC236}">
                  <a16:creationId xmlns:a16="http://schemas.microsoft.com/office/drawing/2014/main" id="{AD50B5A6-D9C7-41FE-6E39-88D407F34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24997F20-AEAD-B124-DC77-0BB68BB0D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12D594FF-51BA-C1B3-4B0B-3E08E96D2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664BC2-E8CC-2598-DA43-FF7FC9111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067" y="2404534"/>
            <a:ext cx="7766936" cy="16463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 err="1"/>
              <a:t>Fazit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26622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246B96-15C7-B849-0EE8-2782558D5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4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5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27577DEC-D9A5-404D-9789-702F4319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EEA9366-CEA8-4F23-B065-4337F0D8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4A03D6-39B4-4278-9BE1-A07E02449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BE459AF-3736-4886-82E0-9B5DA427B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B6B88EF-180C-4E39-8A3F-A52E87110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52DFAACF-64D0-4621-8FF4-E2F03C3E8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36611FF0-65B3-49DB-97C6-1B72AAD0F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0F7407FE-86B1-4890-9D80-9406FBF29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8" name="Rectangle 29">
              <a:extLst>
                <a:ext uri="{FF2B5EF4-FFF2-40B4-BE49-F238E27FC236}">
                  <a16:creationId xmlns:a16="http://schemas.microsoft.com/office/drawing/2014/main" id="{EBD42D5B-8F87-45B3-98B3-C66944F92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F5E04699-59E1-4468-9E7C-83070EEB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F2AE8F13-9A52-4D7F-9637-321EA7CF3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9264DBB-8D70-88E2-B6EE-A8F0A1BA4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067" y="2404534"/>
            <a:ext cx="7766936" cy="16463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 err="1"/>
              <a:t>Quellenangabe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188306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2ED567-06B3-4107-9773-BBB6BD78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479A2-55BB-D788-A5EE-312782A99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53067"/>
            <a:ext cx="6155266" cy="4351866"/>
          </a:xfrm>
        </p:spPr>
        <p:txBody>
          <a:bodyPr anchor="ctr">
            <a:normAutofit/>
          </a:bodyPr>
          <a:lstStyle/>
          <a:p>
            <a:r>
              <a:rPr lang="de-DE" dirty="0"/>
              <a:t>[Definition &amp; Vorteile] – 07.10.25</a:t>
            </a:r>
          </a:p>
          <a:p>
            <a:pPr lvl="1"/>
            <a:r>
              <a:rPr lang="de-DE" dirty="0">
                <a:hlinkClick r:id="rId2"/>
              </a:rPr>
              <a:t>https://www.ibm.com/de-de/think/topics/service-level-agreement</a:t>
            </a:r>
            <a:endParaRPr lang="de-DE" dirty="0"/>
          </a:p>
          <a:p>
            <a:r>
              <a:rPr lang="de-DE" dirty="0"/>
              <a:t> [Komponenten] – 07.10.25</a:t>
            </a:r>
          </a:p>
          <a:p>
            <a:pPr lvl="1"/>
            <a:r>
              <a:rPr lang="de-DE" dirty="0">
                <a:hlinkClick r:id="rId2"/>
              </a:rPr>
              <a:t>https://www.ibm.com/de-de/think/topics/service-level-agreement</a:t>
            </a:r>
            <a:r>
              <a:rPr lang="de-DE" dirty="0"/>
              <a:t> </a:t>
            </a:r>
          </a:p>
          <a:p>
            <a:r>
              <a:rPr lang="de-DE" dirty="0"/>
              <a:t>[Leistungsmessung] – 05.11.25</a:t>
            </a:r>
          </a:p>
          <a:p>
            <a:pPr lvl="1"/>
            <a:r>
              <a:rPr lang="en-US" dirty="0">
                <a:hlinkClick r:id="rId3"/>
              </a:rPr>
              <a:t>https://www.top.legal/wissen/sla-metriken</a:t>
            </a:r>
            <a:endParaRPr lang="de-DE" dirty="0"/>
          </a:p>
          <a:p>
            <a:r>
              <a:rPr lang="de-DE" dirty="0"/>
              <a:t>[Leistungsmessung - PNG] – 05.11.25</a:t>
            </a:r>
          </a:p>
          <a:p>
            <a:pPr lvl="1"/>
            <a:r>
              <a:rPr lang="de-DE" dirty="0">
                <a:hlinkClick r:id="rId4"/>
              </a:rPr>
              <a:t>https://cdn.prod.website-files.com/6084671f10af4f0949901b19/67c723acd06ffb8dfd301833_The%20Methods%20of%20Dispute%20Resolution%20-%20visual%20selection.png</a:t>
            </a:r>
            <a:endParaRPr lang="de-DE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551D8B-3775-4477-88B7-7B7C350D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901C3D-CFAE-460D-BD0E-7D22164D7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590212" y="0"/>
            <a:ext cx="1059921" cy="6858000"/>
          </a:xfrm>
          <a:prstGeom prst="line">
            <a:avLst/>
          </a:prstGeom>
          <a:ln w="9525">
            <a:solidFill>
              <a:srgbClr val="BFBFB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37C0EA9-1437-4437-9D20-2BBDA1AA9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721600" y="3721395"/>
            <a:ext cx="4345560" cy="3136604"/>
          </a:xfrm>
          <a:prstGeom prst="line">
            <a:avLst/>
          </a:prstGeom>
          <a:ln w="9525">
            <a:solidFill>
              <a:srgbClr val="BFBFBF">
                <a:alpha val="69804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23">
            <a:extLst>
              <a:ext uri="{FF2B5EF4-FFF2-40B4-BE49-F238E27FC236}">
                <a16:creationId xmlns:a16="http://schemas.microsoft.com/office/drawing/2014/main" id="{BB934D2B-85E2-4375-94EE-B66C16BF7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9B445E02-D785-4565-B842-9567BBC09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2C153736-D102-4F57-9DE7-615AFC02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BA407A52-66F4-4CDE-A726-FF79F3EC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7" name="Rectangle 28">
            <a:extLst>
              <a:ext uri="{FF2B5EF4-FFF2-40B4-BE49-F238E27FC236}">
                <a16:creationId xmlns:a16="http://schemas.microsoft.com/office/drawing/2014/main" id="{D28FFB34-4FC3-46F5-B900-D3B774FD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205F7B13-ACB5-46BE-8070-0431266B1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D52A0D23-45DD-4DF4-ADE6-A81F409BB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9A0D1B-1E6C-16E2-7379-8F69C55B5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658" y="1253067"/>
            <a:ext cx="3371742" cy="4351866"/>
          </a:xfrm>
        </p:spPr>
        <p:txBody>
          <a:bodyPr anchor="ctr">
            <a:norm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Quellenangabe</a:t>
            </a:r>
            <a:br>
              <a:rPr lang="de-DE" dirty="0">
                <a:solidFill>
                  <a:schemeClr val="bg1"/>
                </a:solidFill>
              </a:rPr>
            </a:b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038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4EDE0-157D-3F46-9B5E-B02909116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2ED567-06B3-4107-9773-BBB6BD78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4AA9BB-3937-7361-0D5C-CAE3A7A36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53067"/>
            <a:ext cx="6155266" cy="4351866"/>
          </a:xfrm>
        </p:spPr>
        <p:txBody>
          <a:bodyPr anchor="ctr">
            <a:normAutofit/>
          </a:bodyPr>
          <a:lstStyle/>
          <a:p>
            <a:r>
              <a:rPr lang="de-DE" dirty="0"/>
              <a:t>[SLA-Arten PNG] – 14.10.25</a:t>
            </a:r>
          </a:p>
          <a:p>
            <a:pPr lvl="1"/>
            <a:r>
              <a:rPr lang="de-DE" dirty="0">
                <a:hlinkClick r:id="rId2"/>
              </a:rPr>
              <a:t>https://cdn.prod.website-files.com/6084671f10af4f0949901b19/6810729b548b5a2f1da48a41_Warum%20ist%20der%20Abschluss%20eines%20Service%20Level%20Agreements%20wichtig_%20-%20visual%20selection%20copy%203.png</a:t>
            </a:r>
            <a:endParaRPr lang="de-DE" dirty="0"/>
          </a:p>
          <a:p>
            <a:r>
              <a:rPr lang="de-DE" dirty="0"/>
              <a:t>[SLA-Arten] – 14.10.25</a:t>
            </a:r>
          </a:p>
          <a:p>
            <a:pPr lvl="1"/>
            <a:r>
              <a:rPr lang="de-DE" dirty="0">
                <a:hlinkClick r:id="rId3"/>
              </a:rPr>
              <a:t>https://www.top.legal/wissen/sla-vorlage</a:t>
            </a:r>
            <a:endParaRPr lang="de-DE" dirty="0"/>
          </a:p>
          <a:p>
            <a:r>
              <a:rPr lang="de-DE" dirty="0"/>
              <a:t>[SLA-Vertrag PNG] – 07.10.25</a:t>
            </a:r>
          </a:p>
          <a:p>
            <a:pPr lvl="1"/>
            <a:r>
              <a:rPr lang="de-DE" dirty="0">
                <a:hlinkClick r:id="rId4"/>
              </a:rPr>
              <a:t>https://azure.microsoft.com/de-de/support/plans/response</a:t>
            </a:r>
            <a:endParaRPr lang="de-DE" sz="1700" dirty="0"/>
          </a:p>
          <a:p>
            <a:pPr>
              <a:lnSpc>
                <a:spcPct val="90000"/>
              </a:lnSpc>
            </a:pPr>
            <a:r>
              <a:rPr lang="de-DE" sz="1700" dirty="0"/>
              <a:t>…</a:t>
            </a:r>
          </a:p>
          <a:p>
            <a:pPr>
              <a:lnSpc>
                <a:spcPct val="90000"/>
              </a:lnSpc>
            </a:pPr>
            <a:endParaRPr lang="de-DE" sz="17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551D8B-3775-4477-88B7-7B7C350D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901C3D-CFAE-460D-BD0E-7D22164D7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590212" y="0"/>
            <a:ext cx="1059921" cy="6858000"/>
          </a:xfrm>
          <a:prstGeom prst="line">
            <a:avLst/>
          </a:prstGeom>
          <a:ln w="9525">
            <a:solidFill>
              <a:srgbClr val="BFBFB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37C0EA9-1437-4437-9D20-2BBDA1AA9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721600" y="3721395"/>
            <a:ext cx="4345560" cy="3136604"/>
          </a:xfrm>
          <a:prstGeom prst="line">
            <a:avLst/>
          </a:prstGeom>
          <a:ln w="9525">
            <a:solidFill>
              <a:srgbClr val="BFBFBF">
                <a:alpha val="69804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23">
            <a:extLst>
              <a:ext uri="{FF2B5EF4-FFF2-40B4-BE49-F238E27FC236}">
                <a16:creationId xmlns:a16="http://schemas.microsoft.com/office/drawing/2014/main" id="{BB934D2B-85E2-4375-94EE-B66C16BF7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9B445E02-D785-4565-B842-9567BBC09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2C153736-D102-4F57-9DE7-615AFC02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BA407A52-66F4-4CDE-A726-FF79F3EC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0" name="Rectangle 28">
            <a:extLst>
              <a:ext uri="{FF2B5EF4-FFF2-40B4-BE49-F238E27FC236}">
                <a16:creationId xmlns:a16="http://schemas.microsoft.com/office/drawing/2014/main" id="{D28FFB34-4FC3-46F5-B900-D3B774FD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2" name="Rectangle 29">
            <a:extLst>
              <a:ext uri="{FF2B5EF4-FFF2-40B4-BE49-F238E27FC236}">
                <a16:creationId xmlns:a16="http://schemas.microsoft.com/office/drawing/2014/main" id="{205F7B13-ACB5-46BE-8070-0431266B1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D52A0D23-45DD-4DF4-ADE6-A81F409BB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C76236-D524-1448-4E29-CDA799E4F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658" y="1253067"/>
            <a:ext cx="3371742" cy="4351866"/>
          </a:xfrm>
        </p:spPr>
        <p:txBody>
          <a:bodyPr anchor="ctr">
            <a:norm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Quellenangabe</a:t>
            </a:r>
            <a:br>
              <a:rPr lang="de-DE" dirty="0">
                <a:solidFill>
                  <a:schemeClr val="bg1"/>
                </a:solidFill>
              </a:rPr>
            </a:b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90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520</Words>
  <Application>Microsoft Office PowerPoint</Application>
  <PresentationFormat>Widescreen</PresentationFormat>
  <Paragraphs>122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Trebuchet MS</vt:lpstr>
      <vt:lpstr>Wingdings 3</vt:lpstr>
      <vt:lpstr>Facet</vt:lpstr>
      <vt:lpstr>SLA</vt:lpstr>
      <vt:lpstr>Definition</vt:lpstr>
      <vt:lpstr>Vorteile</vt:lpstr>
      <vt:lpstr>Vorteile</vt:lpstr>
      <vt:lpstr>Leistungsmessung</vt:lpstr>
      <vt:lpstr>Leistungsmessung</vt:lpstr>
      <vt:lpstr>Leistungsmessung</vt:lpstr>
      <vt:lpstr>Leistungsmessung</vt:lpstr>
      <vt:lpstr>Leistungsmessung</vt:lpstr>
      <vt:lpstr>Arten von SLAs</vt:lpstr>
      <vt:lpstr>Arten von SLAs</vt:lpstr>
      <vt:lpstr>Arten von SLAs</vt:lpstr>
      <vt:lpstr>Arten von SLAs</vt:lpstr>
      <vt:lpstr>Arten von SLAs</vt:lpstr>
      <vt:lpstr>Komponenten</vt:lpstr>
      <vt:lpstr>Komponenten</vt:lpstr>
      <vt:lpstr>Beispiel</vt:lpstr>
      <vt:lpstr>SLA-Vertrag Ein Musterbeispiel</vt:lpstr>
      <vt:lpstr>SLA-Vertrag Ein Musterbeispiel</vt:lpstr>
      <vt:lpstr>SLA-Vertrag Ein Musterbeispiel</vt:lpstr>
      <vt:lpstr>SLA-Vertrag Ein Musterbeispiel</vt:lpstr>
      <vt:lpstr>SLA-Vertrag Ein Musterbeispiel</vt:lpstr>
      <vt:lpstr>Fazit</vt:lpstr>
      <vt:lpstr>Quellenangabe</vt:lpstr>
      <vt:lpstr>Quellenangabe </vt:lpstr>
      <vt:lpstr>Quellenangabe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Wagner (Gigahertz GmbH)</dc:creator>
  <cp:lastModifiedBy>Peter Wagner (Gigahertz GmbH)</cp:lastModifiedBy>
  <cp:revision>4</cp:revision>
  <dcterms:created xsi:type="dcterms:W3CDTF">2025-10-06T09:47:05Z</dcterms:created>
  <dcterms:modified xsi:type="dcterms:W3CDTF">2025-11-10T10:28:35Z</dcterms:modified>
</cp:coreProperties>
</file>